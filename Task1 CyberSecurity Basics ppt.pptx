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e Vietnam" charset="1" panose="00000500000000000000"/>
      <p:regular r:id="rId16"/>
    </p:embeddedFont>
    <p:embeddedFont>
      <p:font typeface="Roca Two Bold" charset="1" panose="00000800000000000000"/>
      <p:regular r:id="rId17"/>
    </p:embeddedFont>
    <p:embeddedFont>
      <p:font typeface="Roca Two" charset="1" panose="00000500000000000000"/>
      <p:regular r:id="rId18"/>
    </p:embeddedFont>
    <p:embeddedFont>
      <p:font typeface="Be Vietnam Ultra-Bold" charset="1" panose="000009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666750"/>
            <a:ext cx="7191375" cy="8953500"/>
            <a:chOff x="0" y="0"/>
            <a:chExt cx="1274296" cy="15865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4296" cy="1586541"/>
            </a:xfrm>
            <a:custGeom>
              <a:avLst/>
              <a:gdLst/>
              <a:ahLst/>
              <a:cxnLst/>
              <a:rect r="r" b="b" t="t" l="l"/>
              <a:pathLst>
                <a:path h="1586541" w="1274296">
                  <a:moveTo>
                    <a:pt x="29067" y="0"/>
                  </a:moveTo>
                  <a:lnTo>
                    <a:pt x="1245229" y="0"/>
                  </a:lnTo>
                  <a:cubicBezTo>
                    <a:pt x="1261283" y="0"/>
                    <a:pt x="1274296" y="13014"/>
                    <a:pt x="1274296" y="29067"/>
                  </a:cubicBezTo>
                  <a:lnTo>
                    <a:pt x="1274296" y="1557474"/>
                  </a:lnTo>
                  <a:cubicBezTo>
                    <a:pt x="1274296" y="1565183"/>
                    <a:pt x="1271234" y="1572576"/>
                    <a:pt x="1265783" y="1578028"/>
                  </a:cubicBezTo>
                  <a:cubicBezTo>
                    <a:pt x="1260332" y="1583479"/>
                    <a:pt x="1252938" y="1586541"/>
                    <a:pt x="1245229" y="1586541"/>
                  </a:cubicBezTo>
                  <a:lnTo>
                    <a:pt x="29067" y="1586541"/>
                  </a:lnTo>
                  <a:cubicBezTo>
                    <a:pt x="21358" y="1586541"/>
                    <a:pt x="13965" y="1583479"/>
                    <a:pt x="8514" y="1578028"/>
                  </a:cubicBezTo>
                  <a:cubicBezTo>
                    <a:pt x="3062" y="1572576"/>
                    <a:pt x="0" y="1565183"/>
                    <a:pt x="0" y="1557474"/>
                  </a:cubicBezTo>
                  <a:lnTo>
                    <a:pt x="0" y="29067"/>
                  </a:lnTo>
                  <a:cubicBezTo>
                    <a:pt x="0" y="21358"/>
                    <a:pt x="3062" y="13965"/>
                    <a:pt x="8514" y="8514"/>
                  </a:cubicBezTo>
                  <a:cubicBezTo>
                    <a:pt x="13965" y="3062"/>
                    <a:pt x="21358" y="0"/>
                    <a:pt x="29067" y="0"/>
                  </a:cubicBezTo>
                  <a:close/>
                </a:path>
              </a:pathLst>
            </a:custGeom>
            <a:blipFill>
              <a:blip r:embed="rId2"/>
              <a:stretch>
                <a:fillRect l="-346" t="0" r="-34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9138920"/>
            <a:ext cx="832485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CCCCCC"/>
                </a:solidFill>
                <a:latin typeface="Be Vietnam"/>
                <a:ea typeface="Be Vietnam"/>
                <a:cs typeface="Be Vietnam"/>
                <a:sym typeface="Be Vietnam"/>
              </a:rPr>
              <a:t>PRESENTED BY SANGMESH PATIL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619125"/>
            <a:ext cx="8324850" cy="47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24"/>
              </a:lnSpc>
              <a:spcBef>
                <a:spcPct val="0"/>
              </a:spcBef>
            </a:pPr>
            <a:r>
              <a:rPr lang="en-US" b="true" sz="2803">
                <a:solidFill>
                  <a:srgbClr val="CCCCCC"/>
                </a:solidFill>
                <a:latin typeface="Roca Two Bold"/>
                <a:ea typeface="Roca Two Bold"/>
                <a:cs typeface="Roca Two Bold"/>
                <a:sym typeface="Roca Two Bold"/>
              </a:rPr>
              <a:t>CYBER SECURITY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6750" y="2882875"/>
            <a:ext cx="8324850" cy="4228206"/>
            <a:chOff x="0" y="0"/>
            <a:chExt cx="11099800" cy="563760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257175"/>
              <a:ext cx="11099800" cy="457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2999"/>
                </a:lnSpc>
              </a:pPr>
              <a:r>
                <a:rPr lang="en-US" sz="12999">
                  <a:solidFill>
                    <a:srgbClr val="4D94FF"/>
                  </a:solidFill>
                  <a:latin typeface="Roca Two"/>
                  <a:ea typeface="Roca Two"/>
                  <a:cs typeface="Roca Two"/>
                  <a:sym typeface="Roca Two"/>
                </a:rPr>
                <a:t>Basics and Threats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4309308" y="4925894"/>
              <a:ext cx="707832" cy="711714"/>
            </a:xfrm>
            <a:custGeom>
              <a:avLst/>
              <a:gdLst/>
              <a:ahLst/>
              <a:cxnLst/>
              <a:rect r="r" b="b" t="t" l="l"/>
              <a:pathLst>
                <a:path h="711714" w="707832">
                  <a:moveTo>
                    <a:pt x="0" y="0"/>
                  </a:moveTo>
                  <a:lnTo>
                    <a:pt x="707832" y="0"/>
                  </a:lnTo>
                  <a:lnTo>
                    <a:pt x="707832" y="711714"/>
                  </a:lnTo>
                  <a:lnTo>
                    <a:pt x="0" y="71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194079" y="4925894"/>
              <a:ext cx="707832" cy="711714"/>
            </a:xfrm>
            <a:custGeom>
              <a:avLst/>
              <a:gdLst/>
              <a:ahLst/>
              <a:cxnLst/>
              <a:rect r="r" b="b" t="t" l="l"/>
              <a:pathLst>
                <a:path h="711714" w="707832">
                  <a:moveTo>
                    <a:pt x="0" y="0"/>
                  </a:moveTo>
                  <a:lnTo>
                    <a:pt x="707832" y="0"/>
                  </a:lnTo>
                  <a:lnTo>
                    <a:pt x="707832" y="711714"/>
                  </a:lnTo>
                  <a:lnTo>
                    <a:pt x="0" y="71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082660" y="4925894"/>
              <a:ext cx="707832" cy="711714"/>
            </a:xfrm>
            <a:custGeom>
              <a:avLst/>
              <a:gdLst/>
              <a:ahLst/>
              <a:cxnLst/>
              <a:rect r="r" b="b" t="t" l="l"/>
              <a:pathLst>
                <a:path h="711714" w="707832">
                  <a:moveTo>
                    <a:pt x="0" y="0"/>
                  </a:moveTo>
                  <a:lnTo>
                    <a:pt x="707832" y="0"/>
                  </a:lnTo>
                  <a:lnTo>
                    <a:pt x="707832" y="711714"/>
                  </a:lnTo>
                  <a:lnTo>
                    <a:pt x="0" y="71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296400" y="685800"/>
            <a:ext cx="8324850" cy="0"/>
          </a:xfrm>
          <a:prstGeom prst="line">
            <a:avLst/>
          </a:prstGeom>
          <a:ln cap="flat" w="28575">
            <a:solidFill>
              <a:srgbClr val="CCCC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17858" y="8060757"/>
            <a:ext cx="1550987" cy="1559493"/>
          </a:xfrm>
          <a:custGeom>
            <a:avLst/>
            <a:gdLst/>
            <a:ahLst/>
            <a:cxnLst/>
            <a:rect r="r" b="b" t="t" l="l"/>
            <a:pathLst>
              <a:path h="1559493" w="1550987">
                <a:moveTo>
                  <a:pt x="0" y="0"/>
                </a:moveTo>
                <a:lnTo>
                  <a:pt x="1550986" y="0"/>
                </a:lnTo>
                <a:lnTo>
                  <a:pt x="1550986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838200"/>
            <a:ext cx="6886575" cy="3273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sz="8499">
                <a:solidFill>
                  <a:srgbClr val="4D94FF"/>
                </a:solidFill>
                <a:latin typeface="Roca Two"/>
                <a:ea typeface="Roca Two"/>
                <a:cs typeface="Roca Two"/>
                <a:sym typeface="Roca Two"/>
              </a:rPr>
              <a:t>Introduction to Cyber Security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96400" y="1028700"/>
            <a:ext cx="8324850" cy="5578260"/>
            <a:chOff x="0" y="0"/>
            <a:chExt cx="11099800" cy="74376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85725"/>
              <a:ext cx="11099800" cy="1934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912"/>
                </a:lnSpc>
                <a:spcBef>
                  <a:spcPct val="0"/>
                </a:spcBef>
              </a:pPr>
              <a:r>
                <a:rPr lang="en-US" b="true" sz="4222" spc="42">
                  <a:solidFill>
                    <a:srgbClr val="CCCCC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Protecting Systems, Networks, and Data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437013"/>
              <a:ext cx="11099800" cy="5000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67"/>
                </a:lnSpc>
              </a:pPr>
              <a:r>
                <a:rPr lang="en-US" sz="3619" spc="72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Cyber security involves </a:t>
              </a:r>
              <a:r>
                <a:rPr lang="en-US" b="true" sz="3619" spc="72">
                  <a:solidFill>
                    <a:srgbClr val="CCCCC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safeguarding</a:t>
              </a:r>
              <a:r>
                <a:rPr lang="en-US" sz="3619" spc="72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computer systems and networks from unauthorized access and attacks, ensuring the </a:t>
              </a:r>
              <a:r>
                <a:rPr lang="en-US" b="true" sz="3619" spc="72">
                  <a:solidFill>
                    <a:srgbClr val="CCCCC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integrity</a:t>
              </a:r>
              <a:r>
                <a:rPr lang="en-US" sz="3619" spc="72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and privacy of sensitive digital information in our daily lives.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6750" y="8060757"/>
            <a:ext cx="1775820" cy="1559493"/>
          </a:xfrm>
          <a:custGeom>
            <a:avLst/>
            <a:gdLst/>
            <a:ahLst/>
            <a:cxnLst/>
            <a:rect r="r" b="b" t="t" l="l"/>
            <a:pathLst>
              <a:path h="1559493" w="1775820">
                <a:moveTo>
                  <a:pt x="0" y="0"/>
                </a:moveTo>
                <a:lnTo>
                  <a:pt x="1775820" y="0"/>
                </a:lnTo>
                <a:lnTo>
                  <a:pt x="1775820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76275"/>
            <a:ext cx="9763125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</a:pPr>
            <a:r>
              <a:rPr lang="en-US" sz="8499">
                <a:solidFill>
                  <a:srgbClr val="4D94FF"/>
                </a:solidFill>
                <a:latin typeface="Roca Two"/>
                <a:ea typeface="Roca Two"/>
                <a:cs typeface="Roca Two"/>
                <a:sym typeface="Roca Two"/>
              </a:rPr>
              <a:t>CIA Triad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75801" y="7094723"/>
            <a:ext cx="8902262" cy="2290135"/>
            <a:chOff x="0" y="0"/>
            <a:chExt cx="11869683" cy="305351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5658" y="0"/>
              <a:ext cx="11754024" cy="741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58"/>
                </a:lnSpc>
                <a:spcBef>
                  <a:spcPct val="0"/>
                </a:spcBef>
              </a:pPr>
              <a:r>
                <a:rPr lang="en-US" b="true" sz="3715" spc="37">
                  <a:solidFill>
                    <a:srgbClr val="80808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Core Principles of Cyber Security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18976"/>
              <a:ext cx="11754024" cy="1934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1640" indent="-300820" lvl="1">
                <a:lnSpc>
                  <a:spcPts val="3901"/>
                </a:lnSpc>
                <a:buFont typeface="Arial"/>
                <a:buChar char="•"/>
              </a:pPr>
              <a:r>
                <a:rPr lang="en-US" b="true" sz="2786" spc="55" strike="noStrike" u="none">
                  <a:solidFill>
                    <a:srgbClr val="CCCCC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Confidentiality</a:t>
              </a:r>
              <a:r>
                <a:rPr lang="en-US" sz="2786" spc="55" strike="noStrike" u="none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: Protect sensitive data</a:t>
              </a:r>
            </a:p>
            <a:p>
              <a:pPr algn="l" marL="601640" indent="-300820" lvl="1">
                <a:lnSpc>
                  <a:spcPts val="3901"/>
                </a:lnSpc>
                <a:buFont typeface="Arial"/>
                <a:buChar char="•"/>
              </a:pPr>
              <a:r>
                <a:rPr lang="en-US" b="true" sz="2786" spc="55" strike="noStrike" u="none">
                  <a:solidFill>
                    <a:srgbClr val="CCCCC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Integrity</a:t>
              </a:r>
              <a:r>
                <a:rPr lang="en-US" sz="2786" spc="55" strike="noStrike" u="none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: Ensure accurate data</a:t>
              </a:r>
            </a:p>
            <a:p>
              <a:pPr algn="l" marL="601640" indent="-300820" lvl="1">
                <a:lnSpc>
                  <a:spcPts val="3901"/>
                </a:lnSpc>
                <a:buFont typeface="Arial"/>
                <a:buChar char="•"/>
              </a:pPr>
              <a:r>
                <a:rPr lang="en-US" b="true" sz="2786" spc="55" strike="noStrike" u="none">
                  <a:solidFill>
                    <a:srgbClr val="CCCCC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Availability</a:t>
              </a:r>
              <a:r>
                <a:rPr lang="en-US" sz="2786" spc="55" strike="noStrike" u="none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: Guarantee access to systems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172950" y="0"/>
            <a:ext cx="6115050" cy="10287000"/>
            <a:chOff x="0" y="0"/>
            <a:chExt cx="1083574" cy="18228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3574" cy="1822834"/>
            </a:xfrm>
            <a:custGeom>
              <a:avLst/>
              <a:gdLst/>
              <a:ahLst/>
              <a:cxnLst/>
              <a:rect r="r" b="b" t="t" l="l"/>
              <a:pathLst>
                <a:path h="1822834" w="1083574">
                  <a:moveTo>
                    <a:pt x="0" y="0"/>
                  </a:moveTo>
                  <a:lnTo>
                    <a:pt x="1083574" y="0"/>
                  </a:lnTo>
                  <a:lnTo>
                    <a:pt x="1083574" y="1822834"/>
                  </a:lnTo>
                  <a:lnTo>
                    <a:pt x="0" y="1822834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363" y="7655229"/>
            <a:ext cx="10392649" cy="2201298"/>
            <a:chOff x="0" y="0"/>
            <a:chExt cx="13856865" cy="293506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13856865" cy="7068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36"/>
                </a:lnSpc>
                <a:spcBef>
                  <a:spcPct val="0"/>
                </a:spcBef>
              </a:pPr>
              <a:r>
                <a:rPr lang="en-US" b="true" sz="3169" spc="31">
                  <a:solidFill>
                    <a:srgbClr val="CCCCC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Safeguarding privacy through data protection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072496"/>
              <a:ext cx="13856865" cy="1862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02"/>
                </a:lnSpc>
              </a:pPr>
              <a:r>
                <a:rPr lang="en-US" sz="2716" spc="54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Protecting sensitive data from unauthorized access is crucial for maintaining trust and ensuring privacy in digital interactions.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858125" y="838200"/>
            <a:ext cx="9763125" cy="219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sz="8499">
                <a:solidFill>
                  <a:srgbClr val="4D94FF"/>
                </a:solidFill>
                <a:latin typeface="Roca Two"/>
                <a:ea typeface="Roca Two"/>
                <a:cs typeface="Roca Two"/>
                <a:sym typeface="Roca Two"/>
              </a:rPr>
              <a:t>Confidentiality Explained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99195" y="7404557"/>
            <a:ext cx="11607896" cy="2458703"/>
            <a:chOff x="0" y="0"/>
            <a:chExt cx="15477195" cy="327827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15477195" cy="7816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955"/>
                </a:lnSpc>
                <a:spcBef>
                  <a:spcPct val="0"/>
                </a:spcBef>
              </a:pPr>
              <a:r>
                <a:rPr lang="en-US" b="true" sz="3539" spc="35">
                  <a:solidFill>
                    <a:srgbClr val="CCCCC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Ensuring accurate data and system access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214114"/>
              <a:ext cx="15477195" cy="2064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47"/>
                </a:lnSpc>
              </a:pPr>
              <a:r>
                <a:rPr lang="en-US" sz="3034" spc="60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Maintaining data accuracy and </a:t>
              </a:r>
              <a:r>
                <a:rPr lang="en-US" b="true" sz="3034" spc="60">
                  <a:solidFill>
                    <a:srgbClr val="CCCCC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timely access</a:t>
              </a:r>
              <a:r>
                <a:rPr lang="en-US" sz="3034" spc="60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are crucial for effective cyber security management and organizational success.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858125" y="838200"/>
            <a:ext cx="9763125" cy="219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sz="8499">
                <a:solidFill>
                  <a:srgbClr val="4D94FF"/>
                </a:solidFill>
                <a:latin typeface="Roca Two"/>
                <a:ea typeface="Roca Two"/>
                <a:cs typeface="Roca Two"/>
                <a:sym typeface="Roca Two"/>
              </a:rPr>
              <a:t>Integrity and Availability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76275"/>
            <a:ext cx="9763125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</a:pPr>
            <a:r>
              <a:rPr lang="en-US" sz="8499">
                <a:solidFill>
                  <a:srgbClr val="4D94FF"/>
                </a:solidFill>
                <a:latin typeface="Roca Two"/>
                <a:ea typeface="Roca Two"/>
                <a:cs typeface="Roca Two"/>
                <a:sym typeface="Roca Two"/>
              </a:rPr>
              <a:t>Types of Cyber Threats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333598"/>
            <a:ext cx="10278864" cy="3048245"/>
            <a:chOff x="0" y="0"/>
            <a:chExt cx="13705152" cy="406432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33543" y="0"/>
              <a:ext cx="13571609" cy="6899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48"/>
                </a:lnSpc>
                <a:spcBef>
                  <a:spcPct val="0"/>
                </a:spcBef>
              </a:pPr>
              <a:r>
                <a:rPr lang="en-US" b="true" sz="3457" spc="34">
                  <a:solidFill>
                    <a:srgbClr val="80808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Overview of common cyber threats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046729"/>
              <a:ext cx="13571609" cy="3017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59810" indent="-279905" lvl="1">
                <a:lnSpc>
                  <a:spcPts val="3630"/>
                </a:lnSpc>
                <a:buFont typeface="Arial"/>
                <a:buChar char="•"/>
              </a:pPr>
              <a:r>
                <a:rPr lang="en-US" sz="2592" spc="51" strike="noStrike" u="none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Malware: harmful software like ransomware</a:t>
              </a:r>
            </a:p>
            <a:p>
              <a:pPr algn="l" marL="559810" indent="-279905" lvl="1">
                <a:lnSpc>
                  <a:spcPts val="3630"/>
                </a:lnSpc>
                <a:buFont typeface="Arial"/>
                <a:buChar char="•"/>
              </a:pPr>
              <a:r>
                <a:rPr lang="en-US" sz="2592" spc="51" strike="noStrike" u="none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Phishing: deceptive emails for information</a:t>
              </a:r>
            </a:p>
            <a:p>
              <a:pPr algn="l" marL="559810" indent="-279905" lvl="1">
                <a:lnSpc>
                  <a:spcPts val="3630"/>
                </a:lnSpc>
                <a:buFont typeface="Arial"/>
                <a:buChar char="•"/>
              </a:pPr>
              <a:r>
                <a:rPr lang="en-US" sz="2592" spc="51" strike="noStrike" u="none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DoS/DDoS attacks: server overload tactics</a:t>
              </a:r>
            </a:p>
            <a:p>
              <a:pPr algn="l" marL="559810" indent="-279905" lvl="1">
                <a:lnSpc>
                  <a:spcPts val="3630"/>
                </a:lnSpc>
                <a:buFont typeface="Arial"/>
                <a:buChar char="•"/>
              </a:pPr>
              <a:r>
                <a:rPr lang="en-US" sz="2592" spc="51" strike="noStrike" u="none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Man-in-the-Middle: communication interception</a:t>
              </a:r>
            </a:p>
            <a:p>
              <a:pPr algn="l" marL="559810" indent="-279905" lvl="1">
                <a:lnSpc>
                  <a:spcPts val="3630"/>
                </a:lnSpc>
                <a:buFont typeface="Arial"/>
                <a:buChar char="•"/>
              </a:pPr>
              <a:r>
                <a:rPr lang="en-US" sz="2592" spc="51" strike="noStrike" u="none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Password attacks: credential guessing techniques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172950" y="0"/>
            <a:ext cx="6115050" cy="10287000"/>
            <a:chOff x="0" y="0"/>
            <a:chExt cx="1083574" cy="18228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3574" cy="1822834"/>
            </a:xfrm>
            <a:custGeom>
              <a:avLst/>
              <a:gdLst/>
              <a:ahLst/>
              <a:cxnLst/>
              <a:rect r="r" b="b" t="t" l="l"/>
              <a:pathLst>
                <a:path h="1822834" w="1083574">
                  <a:moveTo>
                    <a:pt x="0" y="0"/>
                  </a:moveTo>
                  <a:lnTo>
                    <a:pt x="1083574" y="0"/>
                  </a:lnTo>
                  <a:lnTo>
                    <a:pt x="1083574" y="1822834"/>
                  </a:lnTo>
                  <a:lnTo>
                    <a:pt x="0" y="1822834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63139" y="6950352"/>
            <a:ext cx="10896161" cy="2307948"/>
            <a:chOff x="0" y="0"/>
            <a:chExt cx="14528215" cy="307726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14528215" cy="7378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51"/>
                </a:lnSpc>
                <a:spcBef>
                  <a:spcPct val="0"/>
                </a:spcBef>
              </a:pPr>
              <a:r>
                <a:rPr lang="en-US" b="true" sz="3322" spc="33">
                  <a:solidFill>
                    <a:srgbClr val="CCCCC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Illustrating digital threats and risks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36751"/>
              <a:ext cx="14528215" cy="194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87"/>
                </a:lnSpc>
              </a:pPr>
              <a:r>
                <a:rPr lang="en-US" sz="2848" spc="56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This visual representation highlights the dangers of malware and phishing, emphasizing the need for vigilance in cyber security.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858125" y="838200"/>
            <a:ext cx="9763125" cy="219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sz="8499">
                <a:solidFill>
                  <a:srgbClr val="4D94FF"/>
                </a:solidFill>
                <a:latin typeface="Roca Two"/>
                <a:ea typeface="Roca Two"/>
                <a:cs typeface="Roca Two"/>
                <a:sym typeface="Roca Two"/>
              </a:rPr>
              <a:t>Malware &amp; Phishing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115050" cy="10287000"/>
            <a:chOff x="0" y="0"/>
            <a:chExt cx="94738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29598" y="7120719"/>
            <a:ext cx="10529702" cy="2798319"/>
            <a:chOff x="0" y="0"/>
            <a:chExt cx="14039603" cy="373109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14039603" cy="14630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95"/>
                </a:lnSpc>
                <a:spcBef>
                  <a:spcPct val="0"/>
                </a:spcBef>
              </a:pPr>
              <a:r>
                <a:rPr lang="en-US" b="true" sz="3210" spc="32">
                  <a:solidFill>
                    <a:srgbClr val="CCCCC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Illustrating server overload and communication interception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844716"/>
              <a:ext cx="14039603" cy="1886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53"/>
                </a:lnSpc>
              </a:pPr>
              <a:r>
                <a:rPr lang="en-US" sz="2752" spc="55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This visual representation captures the impact of DoS/DDoS attacks and highlights the risk of Man-in-the-Middle attacks.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858125" y="838200"/>
            <a:ext cx="9763125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sz="8499">
                <a:solidFill>
                  <a:srgbClr val="4D94FF"/>
                </a:solidFill>
                <a:latin typeface="Roca Two"/>
                <a:ea typeface="Roca Two"/>
                <a:cs typeface="Roca Two"/>
                <a:sym typeface="Roca Two"/>
              </a:rPr>
              <a:t>Network Attacks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76275"/>
            <a:ext cx="9763125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</a:pPr>
            <a:r>
              <a:rPr lang="en-US" sz="8499">
                <a:solidFill>
                  <a:srgbClr val="4D94FF"/>
                </a:solidFill>
                <a:latin typeface="Roca Two"/>
                <a:ea typeface="Roca Two"/>
                <a:cs typeface="Roca Two"/>
                <a:sym typeface="Roca Two"/>
              </a:rPr>
              <a:t>Importance of Cyber Security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89456" y="6805453"/>
            <a:ext cx="10717712" cy="3178387"/>
            <a:chOff x="0" y="0"/>
            <a:chExt cx="14290283" cy="423785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39244" y="0"/>
              <a:ext cx="14151039" cy="7194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25"/>
                </a:lnSpc>
                <a:spcBef>
                  <a:spcPct val="0"/>
                </a:spcBef>
              </a:pPr>
              <a:r>
                <a:rPr lang="en-US" b="true" sz="3604" spc="36">
                  <a:solidFill>
                    <a:srgbClr val="80808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Why Cyber Security Matters Today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093452"/>
              <a:ext cx="14151039" cy="3144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3711" indent="-291855" lvl="1">
                <a:lnSpc>
                  <a:spcPts val="3785"/>
                </a:lnSpc>
                <a:buFont typeface="Arial"/>
                <a:buChar char="•"/>
              </a:pPr>
              <a:r>
                <a:rPr lang="en-US" sz="2703" spc="54" strike="noStrike" u="none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Protects personal information and privacy</a:t>
              </a:r>
            </a:p>
            <a:p>
              <a:pPr algn="l" marL="583711" indent="-291855" lvl="1">
                <a:lnSpc>
                  <a:spcPts val="3785"/>
                </a:lnSpc>
                <a:buFont typeface="Arial"/>
                <a:buChar char="•"/>
              </a:pPr>
              <a:r>
                <a:rPr lang="en-US" sz="2703" spc="54" strike="noStrike" u="none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Prevents financial losses and theft</a:t>
              </a:r>
            </a:p>
            <a:p>
              <a:pPr algn="l" marL="583711" indent="-291855" lvl="1">
                <a:lnSpc>
                  <a:spcPts val="3785"/>
                </a:lnSpc>
                <a:buFont typeface="Arial"/>
                <a:buChar char="•"/>
              </a:pPr>
              <a:r>
                <a:rPr lang="en-US" sz="2703" spc="54" strike="noStrike" u="none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Ensures business continuity and stability</a:t>
              </a:r>
            </a:p>
            <a:p>
              <a:pPr algn="l" marL="583711" indent="-291855" lvl="1">
                <a:lnSpc>
                  <a:spcPts val="3785"/>
                </a:lnSpc>
                <a:buFont typeface="Arial"/>
                <a:buChar char="•"/>
              </a:pPr>
              <a:r>
                <a:rPr lang="en-US" sz="2703" spc="54" strike="noStrike" u="none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Safeguards national infrastructure assets</a:t>
              </a:r>
            </a:p>
            <a:p>
              <a:pPr algn="l" marL="583711" indent="-291855" lvl="1">
                <a:lnSpc>
                  <a:spcPts val="3785"/>
                </a:lnSpc>
                <a:buFont typeface="Arial"/>
                <a:buChar char="•"/>
              </a:pPr>
              <a:r>
                <a:rPr lang="en-US" sz="2703" spc="54" strike="noStrike" u="none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Builds trust between organizations and users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172950" y="0"/>
            <a:ext cx="6115050" cy="10287000"/>
            <a:chOff x="0" y="0"/>
            <a:chExt cx="1083574" cy="18228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3574" cy="1822834"/>
            </a:xfrm>
            <a:custGeom>
              <a:avLst/>
              <a:gdLst/>
              <a:ahLst/>
              <a:cxnLst/>
              <a:rect r="r" b="b" t="t" l="l"/>
              <a:pathLst>
                <a:path h="1822834" w="1083574">
                  <a:moveTo>
                    <a:pt x="0" y="0"/>
                  </a:moveTo>
                  <a:lnTo>
                    <a:pt x="1083574" y="0"/>
                  </a:lnTo>
                  <a:lnTo>
                    <a:pt x="1083574" y="1822834"/>
                  </a:lnTo>
                  <a:lnTo>
                    <a:pt x="0" y="1822834"/>
                  </a:lnTo>
                  <a:close/>
                </a:path>
              </a:pathLst>
            </a:custGeom>
            <a:blipFill>
              <a:blip r:embed="rId2"/>
              <a:stretch>
                <a:fillRect l="0" t="-58" r="0" b="-58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296400" y="685800"/>
            <a:ext cx="8324850" cy="0"/>
          </a:xfrm>
          <a:prstGeom prst="line">
            <a:avLst/>
          </a:prstGeom>
          <a:ln cap="flat" w="28575">
            <a:solidFill>
              <a:srgbClr val="CCCC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17858" y="8060757"/>
            <a:ext cx="1550987" cy="1559493"/>
          </a:xfrm>
          <a:custGeom>
            <a:avLst/>
            <a:gdLst/>
            <a:ahLst/>
            <a:cxnLst/>
            <a:rect r="r" b="b" t="t" l="l"/>
            <a:pathLst>
              <a:path h="1559493" w="1550987">
                <a:moveTo>
                  <a:pt x="0" y="0"/>
                </a:moveTo>
                <a:lnTo>
                  <a:pt x="1550986" y="0"/>
                </a:lnTo>
                <a:lnTo>
                  <a:pt x="1550986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838200"/>
            <a:ext cx="6886575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sz="8499">
                <a:solidFill>
                  <a:srgbClr val="4D94FF"/>
                </a:solidFill>
                <a:latin typeface="Roca Two"/>
                <a:ea typeface="Roca Two"/>
                <a:cs typeface="Roca Two"/>
                <a:sym typeface="Roca Two"/>
              </a:rPr>
              <a:t>Conclusion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96400" y="1259830"/>
            <a:ext cx="8507462" cy="2614187"/>
            <a:chOff x="0" y="0"/>
            <a:chExt cx="11343283" cy="348558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11343283" cy="682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32"/>
                </a:lnSpc>
                <a:spcBef>
                  <a:spcPct val="0"/>
                </a:spcBef>
              </a:pPr>
              <a:r>
                <a:rPr lang="en-US" b="true" sz="3094" spc="30">
                  <a:solidFill>
                    <a:srgbClr val="CCCCCC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The Importance of Cyber Security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57299"/>
              <a:ext cx="11343283" cy="24282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13"/>
                </a:lnSpc>
              </a:pPr>
              <a:r>
                <a:rPr lang="en-US" sz="2652" spc="53">
                  <a:solidFill>
                    <a:srgbClr val="CCCCCC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Cyber security is vital for protecting the digital world. Understanding threats and applying security measures can significantly reduce risks and ensure a safer online experience for everyone.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6750" y="8060757"/>
            <a:ext cx="1775820" cy="1559493"/>
          </a:xfrm>
          <a:custGeom>
            <a:avLst/>
            <a:gdLst/>
            <a:ahLst/>
            <a:cxnLst/>
            <a:rect r="r" b="b" t="t" l="l"/>
            <a:pathLst>
              <a:path h="1559493" w="1775820">
                <a:moveTo>
                  <a:pt x="0" y="0"/>
                </a:moveTo>
                <a:lnTo>
                  <a:pt x="1775820" y="0"/>
                </a:lnTo>
                <a:lnTo>
                  <a:pt x="1775820" y="1559493"/>
                </a:lnTo>
                <a:lnTo>
                  <a:pt x="0" y="155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Basics and Threats</dc:description>
  <dc:identifier>DAHDA_kgMec</dc:identifier>
  <dcterms:modified xsi:type="dcterms:W3CDTF">2011-08-01T06:04:30Z</dcterms:modified>
  <cp:revision>1</cp:revision>
  <dc:title>Presentation - Basics and Threats</dc:title>
</cp:coreProperties>
</file>